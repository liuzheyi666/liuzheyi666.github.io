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70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unwu333" initials="y" lastIdx="0" clrIdx="0"/>
  <p:cmAuthor id="1" name="Administrator" initials="A" lastIdx="9" clrIdx="0"/>
  <p:cmAuthor id="3" name="ChenLei" initials="C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BE85"/>
    <a:srgbClr val="FFB900"/>
    <a:srgbClr val="4874C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66"/>
        <p:guide pos="291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57B77-24BD-44C4-A4CE-F1E742A70E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alphaModFix amt="75000"/>
          </a:blip>
          <a:srcRect r="10928"/>
          <a:stretch>
            <a:fillRect/>
          </a:stretch>
        </p:blipFill>
        <p:spPr>
          <a:xfrm flipH="1" flipV="1">
            <a:off x="-477" y="0"/>
            <a:ext cx="9144954" cy="6858330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1103332" y="3254858"/>
            <a:ext cx="6937337" cy="0"/>
          </a:xfrm>
          <a:prstGeom prst="line">
            <a:avLst/>
          </a:prstGeom>
          <a:ln>
            <a:gradFill flip="none" rotWithShape="1">
              <a:gsLst>
                <a:gs pos="0">
                  <a:srgbClr val="363632">
                    <a:alpha val="0"/>
                  </a:srgbClr>
                </a:gs>
                <a:gs pos="50000">
                  <a:srgbClr val="363632"/>
                </a:gs>
                <a:gs pos="100000">
                  <a:srgbClr val="363632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 userDrawn="1"/>
        </p:nvSpPr>
        <p:spPr>
          <a:xfrm>
            <a:off x="0" y="6497709"/>
            <a:ext cx="9144000" cy="3602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 userDrawn="1"/>
        </p:nvSpPr>
        <p:spPr>
          <a:xfrm>
            <a:off x="0" y="6406270"/>
            <a:ext cx="91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4713182" y="1721826"/>
            <a:ext cx="286113" cy="338920"/>
            <a:chOff x="5386625" y="1332586"/>
            <a:chExt cx="568410" cy="504991"/>
          </a:xfrm>
        </p:grpSpPr>
        <p:sp>
          <p:nvSpPr>
            <p:cNvPr id="17" name="椭圆 16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67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8" name="椭圆 17"/>
            <p:cNvSpPr/>
            <p:nvPr/>
          </p:nvSpPr>
          <p:spPr>
            <a:xfrm flipH="1">
              <a:off x="5386625" y="1332586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2997320" y="858713"/>
            <a:ext cx="763789" cy="914776"/>
            <a:chOff x="5361651" y="1304562"/>
            <a:chExt cx="593384" cy="533015"/>
          </a:xfrm>
        </p:grpSpPr>
        <p:sp>
          <p:nvSpPr>
            <p:cNvPr id="20" name="椭圆 19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56000">
                  <a:schemeClr val="accent1"/>
                </a:gs>
                <a:gs pos="74000">
                  <a:schemeClr val="accent1">
                    <a:alpha val="8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椭圆 20"/>
            <p:cNvSpPr/>
            <p:nvPr/>
          </p:nvSpPr>
          <p:spPr>
            <a:xfrm flipH="1">
              <a:off x="5361651" y="1304562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981574" y="3750173"/>
            <a:ext cx="379797" cy="446519"/>
            <a:chOff x="5345632" y="1300230"/>
            <a:chExt cx="609403" cy="537347"/>
          </a:xfrm>
        </p:grpSpPr>
        <p:sp>
          <p:nvSpPr>
            <p:cNvPr id="23" name="椭圆 22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59000">
                  <a:schemeClr val="accent1">
                    <a:alpha val="7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椭圆 23"/>
            <p:cNvSpPr/>
            <p:nvPr/>
          </p:nvSpPr>
          <p:spPr>
            <a:xfrm flipH="1">
              <a:off x="5345632" y="1300230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>
            <a:off x="2276118" y="3988052"/>
            <a:ext cx="354249" cy="419632"/>
            <a:chOff x="5386625" y="1332586"/>
            <a:chExt cx="568410" cy="504991"/>
          </a:xfrm>
        </p:grpSpPr>
        <p:sp>
          <p:nvSpPr>
            <p:cNvPr id="26" name="椭圆 25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67000">
                  <a:schemeClr val="accent1">
                    <a:alpha val="84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7" name="椭圆 26"/>
            <p:cNvSpPr/>
            <p:nvPr/>
          </p:nvSpPr>
          <p:spPr>
            <a:xfrm flipH="1">
              <a:off x="5386625" y="1332586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28" name="组合 27"/>
          <p:cNvGrpSpPr/>
          <p:nvPr userDrawn="1"/>
        </p:nvGrpSpPr>
        <p:grpSpPr>
          <a:xfrm>
            <a:off x="5468108" y="906327"/>
            <a:ext cx="513467" cy="608236"/>
            <a:chOff x="5386625" y="1332586"/>
            <a:chExt cx="568410" cy="504991"/>
          </a:xfrm>
        </p:grpSpPr>
        <p:sp>
          <p:nvSpPr>
            <p:cNvPr id="29" name="椭圆 28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67000">
                  <a:schemeClr val="accent1">
                    <a:alpha val="8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0" name="椭圆 29"/>
            <p:cNvSpPr/>
            <p:nvPr/>
          </p:nvSpPr>
          <p:spPr>
            <a:xfrm flipH="1">
              <a:off x="5386625" y="1332586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31" name="组合 30"/>
          <p:cNvGrpSpPr/>
          <p:nvPr userDrawn="1"/>
        </p:nvGrpSpPr>
        <p:grpSpPr>
          <a:xfrm>
            <a:off x="4130544" y="1561219"/>
            <a:ext cx="184635" cy="224838"/>
            <a:chOff x="5386625" y="1332586"/>
            <a:chExt cx="568410" cy="504991"/>
          </a:xfrm>
        </p:grpSpPr>
        <p:sp>
          <p:nvSpPr>
            <p:cNvPr id="32" name="椭圆 31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67000">
                  <a:schemeClr val="accent1">
                    <a:alpha val="3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3" name="椭圆 32"/>
            <p:cNvSpPr/>
            <p:nvPr/>
          </p:nvSpPr>
          <p:spPr>
            <a:xfrm flipH="1">
              <a:off x="5386625" y="1332586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34" name="组合 33"/>
          <p:cNvGrpSpPr/>
          <p:nvPr userDrawn="1"/>
        </p:nvGrpSpPr>
        <p:grpSpPr>
          <a:xfrm>
            <a:off x="4575155" y="3081777"/>
            <a:ext cx="104753" cy="124086"/>
            <a:chOff x="5386625" y="1332586"/>
            <a:chExt cx="568410" cy="504991"/>
          </a:xfrm>
        </p:grpSpPr>
        <p:sp>
          <p:nvSpPr>
            <p:cNvPr id="35" name="椭圆 34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67000">
                  <a:schemeClr val="accent1">
                    <a:alpha val="5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6" name="椭圆 35"/>
            <p:cNvSpPr/>
            <p:nvPr/>
          </p:nvSpPr>
          <p:spPr>
            <a:xfrm flipH="1">
              <a:off x="5386625" y="1332586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6980231" y="4076011"/>
            <a:ext cx="1365269" cy="1635156"/>
            <a:chOff x="5361651" y="1304562"/>
            <a:chExt cx="593384" cy="533015"/>
          </a:xfrm>
        </p:grpSpPr>
        <p:sp>
          <p:nvSpPr>
            <p:cNvPr id="38" name="椭圆 37"/>
            <p:cNvSpPr/>
            <p:nvPr/>
          </p:nvSpPr>
          <p:spPr>
            <a:xfrm>
              <a:off x="5474571" y="1378857"/>
              <a:ext cx="480464" cy="458720"/>
            </a:xfrm>
            <a:prstGeom prst="ellipse">
              <a:avLst/>
            </a:prstGeom>
            <a:gradFill flip="none" rotWithShape="1">
              <a:gsLst>
                <a:gs pos="56000">
                  <a:schemeClr val="accent1">
                    <a:alpha val="20000"/>
                  </a:schemeClr>
                </a:gs>
                <a:gs pos="7400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椭圆 38"/>
            <p:cNvSpPr/>
            <p:nvPr/>
          </p:nvSpPr>
          <p:spPr>
            <a:xfrm flipH="1">
              <a:off x="5361651" y="1304562"/>
              <a:ext cx="464900" cy="4263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56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 prstMaterial="softEdg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3" name="文本占位符 40"/>
          <p:cNvSpPr>
            <a:spLocks noGrp="1"/>
          </p:cNvSpPr>
          <p:nvPr>
            <p:ph type="body" sz="quarter" idx="12" hasCustomPrompt="1"/>
          </p:nvPr>
        </p:nvSpPr>
        <p:spPr>
          <a:xfrm>
            <a:off x="3510078" y="4957542"/>
            <a:ext cx="2122574" cy="368300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2022年11月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>
            <a:alphaModFix amt="60000"/>
          </a:blip>
          <a:srcRect r="10928"/>
          <a:stretch>
            <a:fillRect/>
          </a:stretch>
        </p:blipFill>
        <p:spPr>
          <a:xfrm flipH="1" flipV="1">
            <a:off x="-477" y="0"/>
            <a:ext cx="9144954" cy="685833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171450" y="1052203"/>
            <a:ext cx="8972550" cy="0"/>
          </a:xfrm>
          <a:prstGeom prst="line">
            <a:avLst/>
          </a:prstGeom>
          <a:ln w="12700">
            <a:solidFill>
              <a:schemeClr val="tx2">
                <a:alpha val="3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/>
          <p:cNvSpPr/>
          <p:nvPr userDrawn="1"/>
        </p:nvSpPr>
        <p:spPr>
          <a:xfrm>
            <a:off x="0" y="241300"/>
            <a:ext cx="342900" cy="825500"/>
          </a:xfrm>
          <a:custGeom>
            <a:avLst/>
            <a:gdLst>
              <a:gd name="connsiteX0" fmla="*/ 0 w 457200"/>
              <a:gd name="connsiteY0" fmla="*/ 0 h 825500"/>
              <a:gd name="connsiteX1" fmla="*/ 319614 w 457200"/>
              <a:gd name="connsiteY1" fmla="*/ 0 h 825500"/>
              <a:gd name="connsiteX2" fmla="*/ 457200 w 457200"/>
              <a:gd name="connsiteY2" fmla="*/ 137586 h 825500"/>
              <a:gd name="connsiteX3" fmla="*/ 457200 w 457200"/>
              <a:gd name="connsiteY3" fmla="*/ 687914 h 825500"/>
              <a:gd name="connsiteX4" fmla="*/ 319614 w 457200"/>
              <a:gd name="connsiteY4" fmla="*/ 825500 h 825500"/>
              <a:gd name="connsiteX5" fmla="*/ 0 w 457200"/>
              <a:gd name="connsiteY5" fmla="*/ 825500 h 82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7200" h="825500">
                <a:moveTo>
                  <a:pt x="0" y="0"/>
                </a:moveTo>
                <a:lnTo>
                  <a:pt x="319614" y="0"/>
                </a:lnTo>
                <a:cubicBezTo>
                  <a:pt x="395601" y="0"/>
                  <a:pt x="457200" y="61599"/>
                  <a:pt x="457200" y="137586"/>
                </a:cubicBezTo>
                <a:lnTo>
                  <a:pt x="457200" y="687914"/>
                </a:lnTo>
                <a:cubicBezTo>
                  <a:pt x="457200" y="763901"/>
                  <a:pt x="395601" y="825500"/>
                  <a:pt x="319614" y="825500"/>
                </a:cubicBezTo>
                <a:lnTo>
                  <a:pt x="0" y="825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-3572" y="370284"/>
            <a:ext cx="239316" cy="567532"/>
          </a:xfrm>
          <a:custGeom>
            <a:avLst/>
            <a:gdLst>
              <a:gd name="connsiteX0" fmla="*/ 0 w 319088"/>
              <a:gd name="connsiteY0" fmla="*/ 0 h 567532"/>
              <a:gd name="connsiteX1" fmla="*/ 287204 w 319088"/>
              <a:gd name="connsiteY1" fmla="*/ 0 h 567532"/>
              <a:gd name="connsiteX2" fmla="*/ 319088 w 319088"/>
              <a:gd name="connsiteY2" fmla="*/ 31884 h 567532"/>
              <a:gd name="connsiteX3" fmla="*/ 319088 w 319088"/>
              <a:gd name="connsiteY3" fmla="*/ 535648 h 567532"/>
              <a:gd name="connsiteX4" fmla="*/ 287204 w 319088"/>
              <a:gd name="connsiteY4" fmla="*/ 567532 h 567532"/>
              <a:gd name="connsiteX5" fmla="*/ 0 w 319088"/>
              <a:gd name="connsiteY5" fmla="*/ 567532 h 567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9088" h="567532">
                <a:moveTo>
                  <a:pt x="0" y="0"/>
                </a:moveTo>
                <a:lnTo>
                  <a:pt x="287204" y="0"/>
                </a:lnTo>
                <a:cubicBezTo>
                  <a:pt x="304813" y="0"/>
                  <a:pt x="319088" y="14275"/>
                  <a:pt x="319088" y="31884"/>
                </a:cubicBezTo>
                <a:lnTo>
                  <a:pt x="319088" y="535648"/>
                </a:lnTo>
                <a:cubicBezTo>
                  <a:pt x="319088" y="553257"/>
                  <a:pt x="304813" y="567532"/>
                  <a:pt x="287204" y="567532"/>
                </a:cubicBezTo>
                <a:lnTo>
                  <a:pt x="0" y="5675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矩形: 圆角 5"/>
          <p:cNvSpPr/>
          <p:nvPr userDrawn="1"/>
        </p:nvSpPr>
        <p:spPr>
          <a:xfrm>
            <a:off x="171450" y="524843"/>
            <a:ext cx="232172" cy="258415"/>
          </a:xfrm>
          <a:prstGeom prst="roundRect">
            <a:avLst/>
          </a:prstGeom>
          <a:ln>
            <a:noFill/>
          </a:ln>
          <a:effectLst>
            <a:outerShdw blurRad="76200" sx="107000" sy="107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: 圆角 6"/>
          <p:cNvSpPr/>
          <p:nvPr userDrawn="1"/>
        </p:nvSpPr>
        <p:spPr>
          <a:xfrm>
            <a:off x="228600" y="598392"/>
            <a:ext cx="117872" cy="111316"/>
          </a:xfrm>
          <a:prstGeom prst="roundRect">
            <a:avLst>
              <a:gd name="adj" fmla="val 1036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0" hasCustomPrompt="1"/>
          </p:nvPr>
        </p:nvSpPr>
        <p:spPr>
          <a:xfrm>
            <a:off x="460772" y="361663"/>
            <a:ext cx="8160713" cy="584775"/>
          </a:xfr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3200" b="1" kern="1200" noProof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36363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请输入你的标题</a:t>
            </a: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rgbClr val="36363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3.jpeg"/><Relationship Id="rId2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3525001" y="4553023"/>
            <a:ext cx="2122574" cy="369570"/>
          </a:xfrm>
        </p:spPr>
        <p:txBody>
          <a:bodyPr/>
          <a:lstStyle/>
          <a:p>
            <a:pPr algn="ctr"/>
            <a:r>
              <a:rPr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2025年02月</a:t>
            </a:r>
            <a:endParaRPr lang="en-US" altLang="zh-CN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0" y="1906270"/>
            <a:ext cx="9245600" cy="137287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000" b="1" i="0" u="none" strike="noStrike" kern="1200" cap="none" spc="60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42620">
              <a:lnSpc>
                <a:spcPct val="130000"/>
              </a:lnSpc>
              <a:spcBef>
                <a:spcPts val="1265"/>
              </a:spcBef>
            </a:pPr>
            <a:r>
              <a:rPr sz="2800" dirty="0">
                <a:solidFill>
                  <a:srgbClr val="383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徐州市初中毕业生美育测评</a:t>
            </a:r>
            <a:endParaRPr sz="2800" dirty="0">
              <a:solidFill>
                <a:srgbClr val="383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 defTabSz="642620">
              <a:lnSpc>
                <a:spcPct val="130000"/>
              </a:lnSpc>
              <a:spcBef>
                <a:spcPts val="1265"/>
              </a:spcBef>
            </a:pPr>
            <a:r>
              <a:rPr sz="2800" dirty="0">
                <a:solidFill>
                  <a:srgbClr val="383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考试端操作手册</a:t>
            </a:r>
            <a:endParaRPr sz="2800" dirty="0">
              <a:solidFill>
                <a:srgbClr val="3838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考试登录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8030" cy="470725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4" name="组合 3"/>
          <p:cNvGrpSpPr/>
          <p:nvPr/>
        </p:nvGrpSpPr>
        <p:grpSpPr>
          <a:xfrm>
            <a:off x="6532880" y="3016726"/>
            <a:ext cx="2102168" cy="1402080"/>
            <a:chOff x="9905" y="4185"/>
            <a:chExt cx="4414" cy="2944"/>
          </a:xfrm>
        </p:grpSpPr>
        <p:pic>
          <p:nvPicPr>
            <p:cNvPr id="10250" name="图片 3" descr="微信图片_20191212093857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9905" y="4185"/>
              <a:ext cx="4415" cy="294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矩形 4"/>
            <p:cNvSpPr/>
            <p:nvPr/>
          </p:nvSpPr>
          <p:spPr>
            <a:xfrm>
              <a:off x="11365" y="5318"/>
              <a:ext cx="1493" cy="35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9" name="圆角矩形 18"/>
          <p:cNvSpPr/>
          <p:nvPr/>
        </p:nvSpPr>
        <p:spPr>
          <a:xfrm>
            <a:off x="3485515" y="3524250"/>
            <a:ext cx="2231390" cy="37592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181475" y="3949065"/>
            <a:ext cx="840740" cy="31877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0070" y="3336290"/>
            <a:ext cx="3672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①考生输入考试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通知单上的考籍号。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4035" y="4010660"/>
            <a:ext cx="2472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登录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2623185" y="3644900"/>
            <a:ext cx="71755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623185" y="4194810"/>
            <a:ext cx="71755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7395" cy="47066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核对个人信息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679825" y="2969895"/>
            <a:ext cx="1878965" cy="63944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668520" y="4114800"/>
            <a:ext cx="1160145" cy="31877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76315" y="3147060"/>
            <a:ext cx="2962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①核对个人信息是否正确。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7115" y="4084320"/>
            <a:ext cx="2472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②确认无误点后，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调试设备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5765165" y="3331210"/>
            <a:ext cx="37211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>
            <a:off x="5831205" y="4274185"/>
            <a:ext cx="37211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6125" cy="47059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佩戴耳机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07485" y="5156835"/>
            <a:ext cx="1186180" cy="41846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2750" y="3040380"/>
            <a:ext cx="23107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根据图示指引正确佩戴耳机，确认无误后，点击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我已戴好耳机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4" name="肘形连接符 3"/>
          <p:cNvCxnSpPr>
            <a:stCxn id="7" idx="2"/>
            <a:endCxn id="19" idx="1"/>
          </p:cNvCxnSpPr>
          <p:nvPr/>
        </p:nvCxnSpPr>
        <p:spPr>
          <a:xfrm rot="5400000" flipV="1">
            <a:off x="2224405" y="3583305"/>
            <a:ext cx="1127125" cy="2439035"/>
          </a:xfrm>
          <a:prstGeom prst="bentConnector2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6125" cy="47059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耳机调试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放音测试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152140" y="5150485"/>
            <a:ext cx="1186180" cy="41846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46505" y="3063240"/>
            <a:ext cx="2472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播放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进行聆听。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09675" y="4401185"/>
            <a:ext cx="4523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②确认声音正常后，点击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声音清晰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进入录音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测试。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225290" y="3063240"/>
            <a:ext cx="734695" cy="50101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475220" y="5609590"/>
            <a:ext cx="1186180" cy="41846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600190" y="4681855"/>
            <a:ext cx="2472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可以调节耳机播放和录音的音量大小。</a:t>
            </a:r>
            <a:endParaRPr 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904105" y="5191760"/>
            <a:ext cx="1081405" cy="327660"/>
          </a:xfrm>
          <a:prstGeom prst="roundRect">
            <a:avLst/>
          </a:prstGeom>
          <a:solidFill>
            <a:schemeClr val="accent2"/>
          </a:solidFill>
          <a:ln>
            <a:solidFill>
              <a:srgbClr val="FFB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声音不清晰</a:t>
            </a:r>
            <a:endParaRPr lang="zh-CN" altLang="en-US" sz="1000"/>
          </a:p>
        </p:txBody>
      </p:sp>
      <p:sp>
        <p:nvSpPr>
          <p:cNvPr id="25" name="文本框 24"/>
          <p:cNvSpPr txBox="1"/>
          <p:nvPr/>
        </p:nvSpPr>
        <p:spPr>
          <a:xfrm>
            <a:off x="4617085" y="6177280"/>
            <a:ext cx="3444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如果声音不清晰，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请立即与监考老师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联系。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3329305" y="3314065"/>
            <a:ext cx="71755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3635058" y="4836161"/>
            <a:ext cx="7620" cy="273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5561648" y="5614036"/>
            <a:ext cx="5715" cy="60452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967663" y="5295266"/>
            <a:ext cx="7620" cy="27305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6125" cy="47059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耳机调试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录</a:t>
            </a:r>
            <a:r>
              <a:rPr sz="2800">
                <a:solidFill>
                  <a:schemeClr val="tx1"/>
                </a:solidFill>
                <a:sym typeface="+mn-ea"/>
              </a:rPr>
              <a:t>音测试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02405" y="5150485"/>
            <a:ext cx="1186180" cy="41846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5965" y="4852670"/>
            <a:ext cx="2760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开始录音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对耳机录音功能进行测试。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88135" y="2411730"/>
            <a:ext cx="3623310" cy="259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</a:rPr>
              <a:t>点击开始录音按钮，朗读下方内容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484245" y="5306695"/>
            <a:ext cx="47307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60772" y="361663"/>
            <a:ext cx="8160713" cy="954405"/>
          </a:xfrm>
        </p:spPr>
        <p:txBody>
          <a:bodyPr/>
          <a:p>
            <a:r>
              <a:rPr sz="2800">
                <a:solidFill>
                  <a:schemeClr val="tx1"/>
                </a:solidFill>
                <a:sym typeface="+mn-ea"/>
              </a:rPr>
              <a:t>耳机调试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录音测试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  <a:p>
            <a:endParaRPr lang="zh-CN" altLang="en-US" sz="2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1235710"/>
            <a:ext cx="8366125" cy="47059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1539875" y="2118995"/>
            <a:ext cx="3141980" cy="245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 sz="1000"/>
          </a:p>
        </p:txBody>
      </p:sp>
      <p:sp>
        <p:nvSpPr>
          <p:cNvPr id="11" name="文本框 10"/>
          <p:cNvSpPr txBox="1"/>
          <p:nvPr/>
        </p:nvSpPr>
        <p:spPr>
          <a:xfrm>
            <a:off x="1581785" y="2214245"/>
            <a:ext cx="4064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>
                    <a:lumMod val="50000"/>
                  </a:schemeClr>
                </a:solidFill>
              </a:rPr>
              <a:t>点击播放录音按钮，听声音是否清晰</a:t>
            </a:r>
            <a:endParaRPr lang="zh-CN" altLang="en-US" sz="10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36825" y="4702810"/>
            <a:ext cx="781685" cy="215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600">
                <a:solidFill>
                  <a:schemeClr val="bg1"/>
                </a:solidFill>
              </a:rPr>
              <a:t>播放录音</a:t>
            </a:r>
            <a:endParaRPr lang="zh-CN" altLang="en-US" sz="600">
              <a:solidFill>
                <a:schemeClr val="bg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2390775" y="4924425"/>
            <a:ext cx="1035685" cy="327660"/>
          </a:xfrm>
          <a:prstGeom prst="roundRect">
            <a:avLst/>
          </a:prstGeom>
          <a:solidFill>
            <a:srgbClr val="3BBE85"/>
          </a:solidFill>
          <a:ln>
            <a:solidFill>
              <a:srgbClr val="3BBE8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播放录音</a:t>
            </a:r>
            <a:endParaRPr lang="zh-CN" altLang="en-US" sz="1000"/>
          </a:p>
        </p:txBody>
      </p:sp>
      <p:sp>
        <p:nvSpPr>
          <p:cNvPr id="19" name="圆角矩形 18"/>
          <p:cNvSpPr/>
          <p:nvPr/>
        </p:nvSpPr>
        <p:spPr>
          <a:xfrm>
            <a:off x="4054475" y="4918075"/>
            <a:ext cx="1035685" cy="327660"/>
          </a:xfrm>
          <a:prstGeom prst="roundRect">
            <a:avLst/>
          </a:prstGeom>
          <a:solidFill>
            <a:srgbClr val="3BBE85"/>
          </a:solidFill>
          <a:ln>
            <a:solidFill>
              <a:srgbClr val="3BBE8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声音清晰</a:t>
            </a:r>
            <a:endParaRPr lang="zh-CN" altLang="en-US" sz="1000"/>
          </a:p>
        </p:txBody>
      </p:sp>
      <p:sp>
        <p:nvSpPr>
          <p:cNvPr id="20" name="圆角矩形 19"/>
          <p:cNvSpPr/>
          <p:nvPr/>
        </p:nvSpPr>
        <p:spPr>
          <a:xfrm>
            <a:off x="5718175" y="4918075"/>
            <a:ext cx="1311275" cy="327660"/>
          </a:xfrm>
          <a:prstGeom prst="roundRect">
            <a:avLst/>
          </a:prstGeom>
          <a:solidFill>
            <a:schemeClr val="accent2"/>
          </a:solidFill>
          <a:ln>
            <a:solidFill>
              <a:srgbClr val="FFB9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不清晰，重新测试</a:t>
            </a:r>
            <a:endParaRPr lang="zh-CN" altLang="en-US" sz="1000"/>
          </a:p>
        </p:txBody>
      </p:sp>
      <p:sp>
        <p:nvSpPr>
          <p:cNvPr id="21" name="文本框 20"/>
          <p:cNvSpPr txBox="1"/>
          <p:nvPr/>
        </p:nvSpPr>
        <p:spPr>
          <a:xfrm>
            <a:off x="461010" y="4091305"/>
            <a:ext cx="2857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播放录音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试听录制的声音是否正确。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3053398" y="4686936"/>
            <a:ext cx="5080" cy="17653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754755" y="4072255"/>
            <a:ext cx="42995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②确认录音无误后，点击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声音清晰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等待考试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开始。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60595" y="6003925"/>
            <a:ext cx="3444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如果声音不清晰，点击该按钮，重新测试，返回到开始录音页面。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4569778" y="4696461"/>
            <a:ext cx="5080" cy="17653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6383973" y="5338446"/>
            <a:ext cx="7620" cy="74866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4855" cy="4705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等待考试开始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48510" y="4452620"/>
            <a:ext cx="57480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设备调试完成后自动接收试卷，等待考试开始。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在考试过程中请勿随意摘下耳机，以避免耳机与电脑连接处松动，影响考试。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4855" cy="4705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答题界面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80715" y="5093970"/>
            <a:ext cx="175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题目切换按钮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2280" y="1484630"/>
            <a:ext cx="734695" cy="50101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912110" y="5638800"/>
            <a:ext cx="2097405" cy="41910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441565" y="1484630"/>
            <a:ext cx="1336040" cy="160083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441565" y="3128010"/>
            <a:ext cx="1336040" cy="255333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213985" y="1889125"/>
            <a:ext cx="2082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考试剩余时间、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考生信息。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10965" y="3943350"/>
            <a:ext cx="3530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答题卡信息，显示题目作答状态，点击可以快捷切换题目。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42265" y="970280"/>
            <a:ext cx="175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学科、题型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827088" y="1287781"/>
            <a:ext cx="5080" cy="17653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>
            <a:off x="6889750" y="2104390"/>
            <a:ext cx="47307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6915150" y="4404995"/>
            <a:ext cx="47307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3958273" y="5417821"/>
            <a:ext cx="5080" cy="17653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4855" cy="4705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题型操作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单选题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83715" y="2343785"/>
            <a:ext cx="734695" cy="50101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903980" y="1924685"/>
            <a:ext cx="331470" cy="114935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776345" y="3516630"/>
            <a:ext cx="294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点击选项小圆点进行作答。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635" y="3532505"/>
            <a:ext cx="2756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音频、视频、图片可以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播放和放大显示。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2073593" y="3136266"/>
            <a:ext cx="3810" cy="3181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V="1">
            <a:off x="4117023" y="3136266"/>
            <a:ext cx="3810" cy="31813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4855" cy="4705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题型操作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判断</a:t>
            </a:r>
            <a:r>
              <a:rPr sz="2800">
                <a:solidFill>
                  <a:schemeClr val="tx1"/>
                </a:solidFill>
                <a:sym typeface="+mn-ea"/>
              </a:rPr>
              <a:t>题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113790" y="1986915"/>
            <a:ext cx="331470" cy="73914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291080" y="2407285"/>
            <a:ext cx="2831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点击选项小圆点进行作答。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1913255" y="2579370"/>
            <a:ext cx="372110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4855" cy="4705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题型操作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连线题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662430" y="2753995"/>
            <a:ext cx="4613910" cy="739140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304030" y="4298315"/>
            <a:ext cx="2684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点击选项小圆点，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两两连线进行作答。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5010468" y="3590291"/>
            <a:ext cx="7620" cy="74866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1484630"/>
            <a:ext cx="8364855" cy="4705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412909" y="395923"/>
            <a:ext cx="5553551" cy="523240"/>
          </a:xfrm>
        </p:spPr>
        <p:txBody>
          <a:bodyPr wrap="square"/>
          <a:lstStyle/>
          <a:p>
            <a:r>
              <a:rPr sz="2800">
                <a:solidFill>
                  <a:schemeClr val="tx1"/>
                </a:solidFill>
                <a:sym typeface="+mn-ea"/>
              </a:rPr>
              <a:t>题型操作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-</a:t>
            </a:r>
            <a:r>
              <a:rPr sz="2800">
                <a:solidFill>
                  <a:schemeClr val="tx1"/>
                </a:solidFill>
                <a:sym typeface="+mn-ea"/>
              </a:rPr>
              <a:t>演唱</a:t>
            </a:r>
            <a:r>
              <a:rPr sz="2800">
                <a:solidFill>
                  <a:schemeClr val="tx1"/>
                </a:solidFill>
                <a:sym typeface="+mn-ea"/>
              </a:rPr>
              <a:t>题</a:t>
            </a:r>
            <a:endParaRPr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71980" y="5370195"/>
            <a:ext cx="3704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播放原音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播放伴奏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，可以试听范唱或伴奏。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83792"/>
          <a:stretch>
            <a:fillRect/>
          </a:stretch>
        </p:blipFill>
        <p:spPr>
          <a:xfrm>
            <a:off x="4397375" y="4862830"/>
            <a:ext cx="477520" cy="2146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30140" r="57709"/>
          <a:stretch>
            <a:fillRect/>
          </a:stretch>
        </p:blipFill>
        <p:spPr>
          <a:xfrm>
            <a:off x="4939030" y="4864735"/>
            <a:ext cx="351790" cy="2101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18822" t="9063" r="77931" b="8459"/>
          <a:stretch>
            <a:fillRect/>
          </a:stretch>
        </p:blipFill>
        <p:spPr>
          <a:xfrm>
            <a:off x="4845050" y="4901565"/>
            <a:ext cx="93980" cy="17335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423410" y="4819015"/>
            <a:ext cx="924560" cy="34353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422900" y="4819015"/>
            <a:ext cx="1145540" cy="343535"/>
          </a:xfrm>
          <a:prstGeom prst="roundRect">
            <a:avLst/>
          </a:prstGeom>
          <a:noFill/>
          <a:ln w="1905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220970" y="3606165"/>
            <a:ext cx="30886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开始演唱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”,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进行答题。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演唱完毕，点击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播放录音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进行试听。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4834573" y="5162551"/>
            <a:ext cx="2540" cy="20764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6180773" y="4460241"/>
            <a:ext cx="7620" cy="26162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picid" val="{b0fed02f-fa31-4984-9ac9-e798c7288fa3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演示</Application>
  <PresentationFormat>宽屏</PresentationFormat>
  <Paragraphs>104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Arial</vt:lpstr>
      <vt:lpstr>微软雅黑</vt:lpstr>
      <vt:lpstr>黑体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鱼</cp:lastModifiedBy>
  <cp:revision>170</cp:revision>
  <dcterms:created xsi:type="dcterms:W3CDTF">2019-06-19T02:08:00Z</dcterms:created>
  <dcterms:modified xsi:type="dcterms:W3CDTF">2025-02-26T08:39:23Z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06939BB0748A42E8812F02E9C311D44E_11</vt:lpwstr>
  </property>
</Properties>
</file>